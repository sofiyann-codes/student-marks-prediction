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Student Data</c:v>
                </c:pt>
              </c:strCache>
            </c:strRef>
          </c:tx>
          <c:spPr>
            <a:solidFill>
              <a:srgbClr val="4472C4"/>
            </a:solidFill>
            <a:ln w="25400" cap="flat">
              <a:solidFill>
                <a:srgbClr val="4472C4"/>
              </a:solidFill>
              <a:prstDash val="solid"/>
              <a:round/>
            </a:ln>
            <a:effectLst/>
          </c:spPr>
          <c:marker>
            <c:symbol val="circle"/>
            <c:size val="6"/>
            <c:spPr>
              <a:solidFill>
                <a:srgbClr val="4472C4"/>
              </a:solidFill>
              <a:ln w="9525" cap="flat">
                <a:solidFill>
                  <a:srgbClr val="4472C4"/>
                </a:solidFill>
                <a:prstDash val="solid"/>
                <a:round/>
              </a:ln>
              <a:effectLst/>
            </c:spPr>
          </c:marker>
          <c:xVal>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xVal>
          <c:yVal>
            <c:numRef>
              <c:f>Sheet1!$B$2:$B$11</c:f>
              <c:numCache>
                <c:formatCode>General</c:formatCode>
                <c:ptCount val="10"/>
                <c:pt idx="0">
                  <c:v>20</c:v>
                </c:pt>
                <c:pt idx="1">
                  <c:v>30</c:v>
                </c:pt>
                <c:pt idx="2">
                  <c:v>40</c:v>
                </c:pt>
                <c:pt idx="3">
                  <c:v>50</c:v>
                </c:pt>
                <c:pt idx="4">
                  <c:v>60</c:v>
                </c:pt>
                <c:pt idx="5">
                  <c:v>65</c:v>
                </c:pt>
                <c:pt idx="6">
                  <c:v>75</c:v>
                </c:pt>
                <c:pt idx="7">
                  <c:v>80</c:v>
                </c:pt>
                <c:pt idx="8">
                  <c:v>88</c:v>
                </c:pt>
                <c:pt idx="9">
                  <c:v>95</c:v>
                </c:pt>
              </c:numCache>
            </c:numRef>
          </c:yVal>
          <c:smooth val="0"/>
        </c:ser>
        <c:ser>
          <c:idx val="1"/>
          <c:order val="1"/>
          <c:tx>
            <c:strRef>
              <c:f>Sheet1!$C$1</c:f>
              <c:strCache>
                <c:ptCount val="1"/>
                <c:pt idx="0">
                  <c:v>Trend Line X</c:v>
                </c:pt>
              </c:strCache>
            </c:strRef>
          </c:tx>
          <c:spPr>
            <a:solidFill>
              <a:srgbClr val="4472C4"/>
            </a:solidFill>
            <a:ln w="25400" cap="flat">
              <a:solidFill>
                <a:srgbClr val="4472C4"/>
              </a:solidFill>
              <a:prstDash val="solid"/>
              <a:round/>
            </a:ln>
            <a:effectLst/>
          </c:spPr>
          <c:marker>
            <c:symbol val="circle"/>
            <c:size val="6"/>
            <c:spPr>
              <a:solidFill>
                <a:srgbClr val="4472C4"/>
              </a:solidFill>
              <a:ln w="9525" cap="flat">
                <a:solidFill>
                  <a:srgbClr val="4472C4"/>
                </a:solidFill>
                <a:prstDash val="solid"/>
                <a:round/>
              </a:ln>
              <a:effectLst/>
            </c:spPr>
          </c:marker>
          <c:xVal>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xVal>
          <c:yVal>
            <c:numRef>
              <c:f>Sheet1!$C$2:$C$11</c:f>
              <c:numCache>
                <c:formatCode>General</c:formatCode>
                <c:ptCount val="10"/>
                <c:pt idx="0">
                  <c:v>1</c:v>
                </c:pt>
                <c:pt idx="1">
                  <c:v>2</c:v>
                </c:pt>
                <c:pt idx="2">
                  <c:v>3</c:v>
                </c:pt>
                <c:pt idx="3">
                  <c:v>4</c:v>
                </c:pt>
                <c:pt idx="4">
                  <c:v>5</c:v>
                </c:pt>
                <c:pt idx="5">
                  <c:v>6</c:v>
                </c:pt>
                <c:pt idx="6">
                  <c:v>7</c:v>
                </c:pt>
                <c:pt idx="7">
                  <c:v>8</c:v>
                </c:pt>
                <c:pt idx="8">
                  <c:v>9</c:v>
                </c:pt>
                <c:pt idx="9">
                  <c:v>10</c:v>
                </c:pt>
              </c:numCache>
            </c:numRef>
          </c:yVal>
          <c:smooth val="0"/>
        </c:ser>
        <c:ser>
          <c:idx val="2"/>
          <c:order val="2"/>
          <c:tx>
            <c:strRef>
              <c:f>Sheet1!$D$1</c:f>
              <c:strCache>
                <c:ptCount val="1"/>
                <c:pt idx="0">
                  <c:v>Predicted Line</c:v>
                </c:pt>
              </c:strCache>
            </c:strRef>
          </c:tx>
          <c:spPr>
            <a:solidFill>
              <a:srgbClr val="E74C3C"/>
            </a:solidFill>
            <a:ln w="25400" cap="flat">
              <a:solidFill>
                <a:srgbClr val="E74C3C"/>
              </a:solidFill>
              <a:prstDash val="solid"/>
              <a:round/>
            </a:ln>
            <a:effectLst/>
          </c:spPr>
          <c:marker>
            <c:symbol val="circle"/>
            <c:size val="6"/>
            <c:spPr>
              <a:solidFill>
                <a:srgbClr val="E74C3C"/>
              </a:solidFill>
              <a:ln w="9525" cap="flat">
                <a:solidFill>
                  <a:srgbClr val="E74C3C"/>
                </a:solidFill>
                <a:prstDash val="solid"/>
                <a:round/>
              </a:ln>
              <a:effectLst/>
            </c:spPr>
          </c:marker>
          <c:xVal>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xVal>
          <c:yVal>
            <c:numRef>
              <c:f>Sheet1!$D$2:$D$11</c:f>
              <c:numCache>
                <c:formatCode>General</c:formatCode>
                <c:ptCount val="10"/>
                <c:pt idx="0">
                  <c:v>19.8</c:v>
                </c:pt>
                <c:pt idx="1">
                  <c:v>28.1</c:v>
                </c:pt>
                <c:pt idx="2">
                  <c:v>36.400000000000006</c:v>
                </c:pt>
                <c:pt idx="3">
                  <c:v>44.7</c:v>
                </c:pt>
                <c:pt idx="4">
                  <c:v>53</c:v>
                </c:pt>
                <c:pt idx="5">
                  <c:v>61.300000000000004</c:v>
                </c:pt>
                <c:pt idx="6">
                  <c:v>69.60000000000001</c:v>
                </c:pt>
                <c:pt idx="7">
                  <c:v>77.9</c:v>
                </c:pt>
                <c:pt idx="8">
                  <c:v>86.2</c:v>
                </c:pt>
                <c:pt idx="9">
                  <c:v>94.5</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scaling>
        <c:delete val="0"/>
        <c:axPos val="b"/>
        <c:title>
          <c:tx>
            <c:rich>
              <a:bodyPr/>
              <a:lstStyle/>
              <a:p>
                <a:pPr>
                  <a:defRPr b="0" i="0" u="none" strike="noStrike">
                    <a:solidFill>
                      <a:srgbClr val="000000"/>
                    </a:solidFill>
                    <a:latin typeface="Arial"/>
                  </a:defRPr>
                </a:pPr>
                <a:r>
                  <a:rPr b="0" i="0" u="none" strike="noStrike">
                    <a:solidFill>
                      <a:srgbClr val="000000"/>
                    </a:solidFill>
                    <a:latin typeface="Arial"/>
                  </a:rPr>
                  <a:t>Study Hours</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valAx>
      <c:valAx>
        <c:axId val="2094734552"/>
        <c:scaling>
          <c:orientation val="minMax"/>
        </c:scaling>
        <c:delete val="0"/>
        <c:axPos val="l"/>
        <c:majorGridlines>
          <c:spPr>
            <a:ln w="6350" cap="flat">
              <a:solidFill>
                <a:srgbClr val="E2E8F0"/>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Marks</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midCat"/>
      </c:valAx>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Say: 'This is my mini project for Xtragrad — I built an ML model that predicts student marks based on how many hours they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goal is simple — give the model a number (study hours) and it tells you what marks to expect. It learns this from 20 student examples we gave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In ML, we need data to teach the model. I made a small dataset with 20 students. Input is study hours, output is marks. The model learns the relationship between these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step. The key concept: we split data so the model doesn't just memorize — it actually learns. Then we test it on data it has never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blue dots are real student data. The red line is what the model learned. Now if you give it any new number of hours, it uses that red line to give you a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actual terminal output. R² of 0.97 is very good — means the model explains 97% of the variation in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library, explain what you actually used it for in the code — not just what it is generally.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 confidently here — you actually did all of this. This shows real hands-on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'I'm happy to answer any questions about the code or the ML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731520" y="1371600"/>
            <a:ext cx="7680960" cy="9144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Student Marks Prediction</a:t>
            </a:r>
            <a:endParaRPr lang="en-US" sz="4000" dirty="0"/>
          </a:p>
        </p:txBody>
      </p:sp>
      <p:sp>
        <p:nvSpPr>
          <p:cNvPr id="3" name="Text 1"/>
          <p:cNvSpPr/>
          <p:nvPr/>
        </p:nvSpPr>
        <p:spPr>
          <a:xfrm>
            <a:off x="731520" y="2377440"/>
            <a:ext cx="7680960" cy="457200"/>
          </a:xfrm>
          <a:prstGeom prst="rect">
            <a:avLst/>
          </a:prstGeom>
          <a:noFill/>
          <a:ln/>
        </p:spPr>
        <p:txBody>
          <a:bodyPr wrap="square" rtlCol="0" anchor="ctr"/>
          <a:lstStyle/>
          <a:p>
            <a:pPr algn="ctr" indent="0" marL="0">
              <a:buNone/>
            </a:pPr>
            <a:r>
              <a:rPr lang="en-US" sz="1800" dirty="0">
                <a:solidFill>
                  <a:srgbClr val="F5A623"/>
                </a:solidFill>
                <a:latin typeface="Calibri" pitchFamily="34" charset="0"/>
                <a:ea typeface="Calibri" pitchFamily="34" charset="-122"/>
                <a:cs typeface="Calibri" pitchFamily="34" charset="-120"/>
              </a:rPr>
              <a:t>Using Machine Learning — Linear Regression</a:t>
            </a:r>
            <a:endParaRPr lang="en-US" sz="1800" dirty="0"/>
          </a:p>
        </p:txBody>
      </p:sp>
      <p:sp>
        <p:nvSpPr>
          <p:cNvPr id="4" name="Text 2"/>
          <p:cNvSpPr/>
          <p:nvPr/>
        </p:nvSpPr>
        <p:spPr>
          <a:xfrm>
            <a:off x="731520" y="4114800"/>
            <a:ext cx="7680960" cy="365760"/>
          </a:xfrm>
          <a:prstGeom prst="rect">
            <a:avLst/>
          </a:prstGeom>
          <a:noFill/>
          <a:ln/>
        </p:spPr>
        <p:txBody>
          <a:bodyPr wrap="square" rtlCol="0" anchor="ctr"/>
          <a:lstStyle/>
          <a:p>
            <a:pPr algn="ctr" indent="0" marL="0">
              <a:buNone/>
            </a:pPr>
            <a:r>
              <a:rPr lang="en-US" sz="1300" dirty="0">
                <a:solidFill>
                  <a:srgbClr val="AABBDD"/>
                </a:solidFill>
                <a:latin typeface="Calibri" pitchFamily="34" charset="0"/>
                <a:ea typeface="Calibri" pitchFamily="34" charset="-122"/>
                <a:cs typeface="Calibri" pitchFamily="34" charset="-120"/>
              </a:rPr>
              <a:t>Mini Project  |  Xtragrad Pvt Ltd  |  AI/ML Internship</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What Is This Project?</a:t>
            </a:r>
            <a:endParaRPr lang="en-US" sz="3000" dirty="0"/>
          </a:p>
        </p:txBody>
      </p:sp>
      <p:sp>
        <p:nvSpPr>
          <p:cNvPr id="3" name="Shape 1"/>
          <p:cNvSpPr/>
          <p:nvPr/>
        </p:nvSpPr>
        <p:spPr>
          <a:xfrm>
            <a:off x="457200" y="1097280"/>
            <a:ext cx="3931920" cy="1463040"/>
          </a:xfrm>
          <a:prstGeom prst="roundRect">
            <a:avLst>
              <a:gd name="adj" fmla="val 6250"/>
            </a:avLst>
          </a:prstGeom>
          <a:solidFill>
            <a:srgbClr val="EEF2FF"/>
          </a:solidFill>
          <a:ln/>
          <a:effectLst>
            <a:outerShdw sx="100000" sy="100000" kx="0" ky="0" algn="bl" rotWithShape="0" blurRad="76200" dist="25400" dir="2700000">
              <a:srgbClr val="000000">
                <a:alpha val="10000"/>
              </a:srgbClr>
            </a:outerShdw>
          </a:effectLst>
        </p:spPr>
      </p:sp>
      <p:sp>
        <p:nvSpPr>
          <p:cNvPr id="4" name="Text 2"/>
          <p:cNvSpPr/>
          <p:nvPr/>
        </p:nvSpPr>
        <p:spPr>
          <a:xfrm>
            <a:off x="594360" y="1207008"/>
            <a:ext cx="3657600"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  Goal</a:t>
            </a:r>
            <a:endParaRPr lang="en-US" sz="1400" dirty="0"/>
          </a:p>
        </p:txBody>
      </p:sp>
      <p:sp>
        <p:nvSpPr>
          <p:cNvPr id="5" name="Text 3"/>
          <p:cNvSpPr/>
          <p:nvPr/>
        </p:nvSpPr>
        <p:spPr>
          <a:xfrm>
            <a:off x="594360" y="1600200"/>
            <a:ext cx="3657600" cy="8229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Predict a student's marks based on number of study hours</a:t>
            </a:r>
            <a:endParaRPr lang="en-US" sz="1200" dirty="0"/>
          </a:p>
        </p:txBody>
      </p:sp>
      <p:sp>
        <p:nvSpPr>
          <p:cNvPr id="6" name="Shape 4"/>
          <p:cNvSpPr/>
          <p:nvPr/>
        </p:nvSpPr>
        <p:spPr>
          <a:xfrm>
            <a:off x="457200" y="2743200"/>
            <a:ext cx="3931920" cy="1463040"/>
          </a:xfrm>
          <a:prstGeom prst="roundRect">
            <a:avLst>
              <a:gd name="adj" fmla="val 6250"/>
            </a:avLst>
          </a:prstGeom>
          <a:solidFill>
            <a:srgbClr val="EEF2FF"/>
          </a:solidFill>
          <a:ln/>
          <a:effectLst>
            <a:outerShdw sx="100000" sy="100000" kx="0" ky="0" algn="bl" rotWithShape="0" blurRad="76200" dist="25400" dir="2700000">
              <a:srgbClr val="000000">
                <a:alpha val="10000"/>
              </a:srgbClr>
            </a:outerShdw>
          </a:effectLst>
        </p:spPr>
      </p:sp>
      <p:sp>
        <p:nvSpPr>
          <p:cNvPr id="7" name="Text 5"/>
          <p:cNvSpPr/>
          <p:nvPr/>
        </p:nvSpPr>
        <p:spPr>
          <a:xfrm>
            <a:off x="594360" y="2852928"/>
            <a:ext cx="3657600"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  Algorithm</a:t>
            </a:r>
            <a:endParaRPr lang="en-US" sz="1400" dirty="0"/>
          </a:p>
        </p:txBody>
      </p:sp>
      <p:sp>
        <p:nvSpPr>
          <p:cNvPr id="8" name="Text 6"/>
          <p:cNvSpPr/>
          <p:nvPr/>
        </p:nvSpPr>
        <p:spPr>
          <a:xfrm>
            <a:off x="594360" y="3246120"/>
            <a:ext cx="3657600" cy="8229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Linear Regression — finds the best straight line through data</a:t>
            </a:r>
            <a:endParaRPr lang="en-US" sz="1200" dirty="0"/>
          </a:p>
        </p:txBody>
      </p:sp>
      <p:sp>
        <p:nvSpPr>
          <p:cNvPr id="9" name="Shape 7"/>
          <p:cNvSpPr/>
          <p:nvPr/>
        </p:nvSpPr>
        <p:spPr>
          <a:xfrm>
            <a:off x="4754880" y="1097280"/>
            <a:ext cx="3931920" cy="1463040"/>
          </a:xfrm>
          <a:prstGeom prst="roundRect">
            <a:avLst>
              <a:gd name="adj" fmla="val 6250"/>
            </a:avLst>
          </a:prstGeom>
          <a:solidFill>
            <a:srgbClr val="EEF2FF"/>
          </a:solidFill>
          <a:ln/>
          <a:effectLst>
            <a:outerShdw sx="100000" sy="100000" kx="0" ky="0" algn="bl" rotWithShape="0" blurRad="76200" dist="25400" dir="2700000">
              <a:srgbClr val="000000">
                <a:alpha val="10000"/>
              </a:srgbClr>
            </a:outerShdw>
          </a:effectLst>
        </p:spPr>
      </p:sp>
      <p:sp>
        <p:nvSpPr>
          <p:cNvPr id="10" name="Text 8"/>
          <p:cNvSpPr/>
          <p:nvPr/>
        </p:nvSpPr>
        <p:spPr>
          <a:xfrm>
            <a:off x="4892040" y="1207008"/>
            <a:ext cx="3657600"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  Type</a:t>
            </a:r>
            <a:endParaRPr lang="en-US" sz="1400" dirty="0"/>
          </a:p>
        </p:txBody>
      </p:sp>
      <p:sp>
        <p:nvSpPr>
          <p:cNvPr id="11" name="Text 9"/>
          <p:cNvSpPr/>
          <p:nvPr/>
        </p:nvSpPr>
        <p:spPr>
          <a:xfrm>
            <a:off x="4892040" y="1600200"/>
            <a:ext cx="3657600" cy="8229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Supervised Machine Learning — model learns from labelled examples</a:t>
            </a:r>
            <a:endParaRPr lang="en-US" sz="1200" dirty="0"/>
          </a:p>
        </p:txBody>
      </p:sp>
      <p:sp>
        <p:nvSpPr>
          <p:cNvPr id="12" name="Shape 10"/>
          <p:cNvSpPr/>
          <p:nvPr/>
        </p:nvSpPr>
        <p:spPr>
          <a:xfrm>
            <a:off x="4754880" y="2743200"/>
            <a:ext cx="3931920" cy="1463040"/>
          </a:xfrm>
          <a:prstGeom prst="roundRect">
            <a:avLst>
              <a:gd name="adj" fmla="val 6250"/>
            </a:avLst>
          </a:prstGeom>
          <a:solidFill>
            <a:srgbClr val="EEF2FF"/>
          </a:solidFill>
          <a:ln/>
          <a:effectLst>
            <a:outerShdw sx="100000" sy="100000" kx="0" ky="0" algn="bl" rotWithShape="0" blurRad="76200" dist="25400" dir="2700000">
              <a:srgbClr val="000000">
                <a:alpha val="10000"/>
              </a:srgbClr>
            </a:outerShdw>
          </a:effectLst>
        </p:spPr>
      </p:sp>
      <p:sp>
        <p:nvSpPr>
          <p:cNvPr id="13" name="Text 11"/>
          <p:cNvSpPr/>
          <p:nvPr/>
        </p:nvSpPr>
        <p:spPr>
          <a:xfrm>
            <a:off x="4892040" y="2852928"/>
            <a:ext cx="3657600" cy="36576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  Built With</a:t>
            </a:r>
            <a:endParaRPr lang="en-US" sz="1400" dirty="0"/>
          </a:p>
        </p:txBody>
      </p:sp>
      <p:sp>
        <p:nvSpPr>
          <p:cNvPr id="14" name="Text 12"/>
          <p:cNvSpPr/>
          <p:nvPr/>
        </p:nvSpPr>
        <p:spPr>
          <a:xfrm>
            <a:off x="4892040" y="3246120"/>
            <a:ext cx="3657600" cy="8229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Python, Pandas, Scikit-learn, Matplotlib</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The Dataset</a:t>
            </a:r>
            <a:endParaRPr lang="en-US" sz="3000" dirty="0"/>
          </a:p>
        </p:txBody>
      </p:sp>
      <p:sp>
        <p:nvSpPr>
          <p:cNvPr id="3" name="Text 1"/>
          <p:cNvSpPr/>
          <p:nvPr/>
        </p:nvSpPr>
        <p:spPr>
          <a:xfrm>
            <a:off x="457200" y="914400"/>
            <a:ext cx="8229600" cy="411480"/>
          </a:xfrm>
          <a:prstGeom prst="rect">
            <a:avLst/>
          </a:prstGeom>
          <a:noFill/>
          <a:ln/>
        </p:spPr>
        <p:txBody>
          <a:bodyPr wrap="square" rtlCol="0" anchor="ctr"/>
          <a:lstStyle/>
          <a:p>
            <a:pPr indent="0" marL="0">
              <a:buNone/>
            </a:pPr>
            <a:r>
              <a:rPr lang="en-US" sz="1400" dirty="0">
                <a:solidFill>
                  <a:srgbClr val="64748B"/>
                </a:solidFill>
                <a:latin typeface="Calibri" pitchFamily="34" charset="0"/>
                <a:ea typeface="Calibri" pitchFamily="34" charset="-122"/>
                <a:cs typeface="Calibri" pitchFamily="34" charset="-120"/>
              </a:rPr>
              <a:t>I created a dataset of 20 students — each row has study hours and the marks they scored.</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1371600" y="1463040"/>
          <a:ext cx="4114800" cy="2926080"/>
        </p:xfrm>
        <a:graphic>
          <a:graphicData uri="http://schemas.openxmlformats.org/drawingml/2006/table">
            <a:tbl>
              <a:tblPr/>
              <a:tblGrid>
                <a:gridCol w="2057400"/>
                <a:gridCol w="2057400"/>
              </a:tblGrid>
              <a:tr h="418011">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Study Hours</a:t>
                      </a:r>
                      <a:endParaRPr lang="en-US" sz="1300" dirty="0">
                        <a:latin typeface="Calibri" charset="0"/>
                        <a:ea typeface="Calibri" charset="0"/>
                        <a:cs typeface="Calibri"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E276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Marks Scored</a:t>
                      </a:r>
                      <a:endParaRPr lang="en-US" sz="1300" dirty="0">
                        <a:latin typeface="Calibri" charset="0"/>
                        <a:ea typeface="Calibri" charset="0"/>
                        <a:cs typeface="Calibri"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E2761"/>
                    </a:solidFill>
                  </a:tcPr>
                </a:tc>
              </a:tr>
              <a:tr h="418011">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1 hour</a:t>
                      </a:r>
                      <a:endParaRPr lang="en-US" sz="1300" dirty="0">
                        <a:latin typeface="Calibri" charset="0"/>
                        <a:ea typeface="Calibri" charset="0"/>
                        <a:cs typeface="Calibri"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AFC"/>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20 marks</a:t>
                      </a:r>
                      <a:endParaRPr lang="en-US" sz="1300" dirty="0">
                        <a:latin typeface="Calibri" charset="0"/>
                        <a:ea typeface="Calibri" charset="0"/>
                        <a:cs typeface="Calibri"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AFC"/>
                    </a:solidFill>
                  </a:tcPr>
                </a:tc>
              </a:tr>
              <a:tr h="418011">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3 hours</a:t>
                      </a:r>
                      <a:endParaRPr lang="en-US" sz="1300" dirty="0">
                        <a:latin typeface="Calibri" charset="0"/>
                        <a:ea typeface="Calibri" charset="0"/>
                        <a:cs typeface="Calibri"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AFC"/>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40 marks</a:t>
                      </a:r>
                      <a:endParaRPr lang="en-US" sz="1300" dirty="0">
                        <a:latin typeface="Calibri" charset="0"/>
                        <a:ea typeface="Calibri" charset="0"/>
                        <a:cs typeface="Calibri"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AFC"/>
                    </a:solidFill>
                  </a:tcPr>
                </a:tc>
              </a:tr>
              <a:tr h="418011">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5 hours</a:t>
                      </a:r>
                      <a:endParaRPr lang="en-US" sz="1300" dirty="0">
                        <a:latin typeface="Calibri" charset="0"/>
                        <a:ea typeface="Calibri" charset="0"/>
                        <a:cs typeface="Calibri"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AFC"/>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60 marks</a:t>
                      </a:r>
                      <a:endParaRPr lang="en-US" sz="1300" dirty="0">
                        <a:latin typeface="Calibri" charset="0"/>
                        <a:ea typeface="Calibri" charset="0"/>
                        <a:cs typeface="Calibri"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AFC"/>
                    </a:solidFill>
                  </a:tcPr>
                </a:tc>
              </a:tr>
              <a:tr h="418011">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7 hours</a:t>
                      </a:r>
                      <a:endParaRPr lang="en-US" sz="1300" dirty="0">
                        <a:latin typeface="Calibri" charset="0"/>
                        <a:ea typeface="Calibri" charset="0"/>
                        <a:cs typeface="Calibri"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AFC"/>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75 marks</a:t>
                      </a:r>
                      <a:endParaRPr lang="en-US" sz="1300" dirty="0">
                        <a:latin typeface="Calibri" charset="0"/>
                        <a:ea typeface="Calibri" charset="0"/>
                        <a:cs typeface="Calibri"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AFC"/>
                    </a:solidFill>
                  </a:tcPr>
                </a:tc>
              </a:tr>
              <a:tr h="418011">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10 hours</a:t>
                      </a:r>
                      <a:endParaRPr lang="en-US" sz="1300" dirty="0">
                        <a:latin typeface="Calibri" charset="0"/>
                        <a:ea typeface="Calibri" charset="0"/>
                        <a:cs typeface="Calibri"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AFC"/>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95 marks</a:t>
                      </a:r>
                      <a:endParaRPr lang="en-US" sz="1300" dirty="0">
                        <a:latin typeface="Calibri" charset="0"/>
                        <a:ea typeface="Calibri" charset="0"/>
                        <a:cs typeface="Calibri"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AFC"/>
                    </a:solidFill>
                  </a:tcPr>
                </a:tc>
              </a:tr>
              <a:tr h="418011">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AFC"/>
                    </a:solidFill>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AFC"/>
                    </a:solidFill>
                  </a:tcPr>
                </a:tc>
              </a:tr>
            </a:tbl>
          </a:graphicData>
        </a:graphic>
      </p:graphicFrame>
      <p:sp>
        <p:nvSpPr>
          <p:cNvPr id="5" name="Text 2"/>
          <p:cNvSpPr/>
          <p:nvPr/>
        </p:nvSpPr>
        <p:spPr>
          <a:xfrm>
            <a:off x="5943600" y="1645920"/>
            <a:ext cx="2560320" cy="2743200"/>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Input (X)</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Study Hours</a:t>
            </a:r>
            <a:endParaRPr lang="en-US" sz="1300" dirty="0"/>
          </a:p>
          <a:p>
            <a:pPr indent="0" marL="0">
              <a:buNone/>
            </a:pPr>
            <a:endParaRPr lang="en-US" sz="1300" dirty="0"/>
          </a:p>
          <a:p>
            <a:pPr indent="0" marL="0">
              <a:buNone/>
            </a:pPr>
            <a:r>
              <a:rPr lang="en-US" sz="1300" b="1" dirty="0">
                <a:solidFill>
                  <a:srgbClr val="1E293B"/>
                </a:solidFill>
                <a:latin typeface="Calibri" pitchFamily="34" charset="0"/>
                <a:ea typeface="Calibri" pitchFamily="34" charset="-122"/>
                <a:cs typeface="Calibri" pitchFamily="34" charset="-120"/>
              </a:rPr>
              <a:t>Output (y)</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Marks Scored</a:t>
            </a:r>
            <a:endParaRPr lang="en-US" sz="1300" dirty="0"/>
          </a:p>
          <a:p>
            <a:pPr indent="0" marL="0">
              <a:buNone/>
            </a:pPr>
            <a:endParaRPr lang="en-US" sz="1300" dirty="0"/>
          </a:p>
          <a:p>
            <a:pPr indent="0" marL="0">
              <a:buNone/>
            </a:pPr>
            <a:r>
              <a:rPr lang="en-US" sz="1300" b="1" dirty="0">
                <a:solidFill>
                  <a:srgbClr val="F5A623"/>
                </a:solidFill>
                <a:latin typeface="Calibri" pitchFamily="34" charset="0"/>
                <a:ea typeface="Calibri" pitchFamily="34" charset="-122"/>
                <a:cs typeface="Calibri" pitchFamily="34" charset="-120"/>
              </a:rPr>
              <a:t>20 rows total</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How the Model Works</a:t>
            </a:r>
            <a:endParaRPr lang="en-US" sz="3000" dirty="0"/>
          </a:p>
        </p:txBody>
      </p:sp>
      <p:sp>
        <p:nvSpPr>
          <p:cNvPr id="3" name="Shape 1"/>
          <p:cNvSpPr/>
          <p:nvPr/>
        </p:nvSpPr>
        <p:spPr>
          <a:xfrm>
            <a:off x="457200" y="1005840"/>
            <a:ext cx="594360" cy="502920"/>
          </a:xfrm>
          <a:prstGeom prst="roundRect">
            <a:avLst>
              <a:gd name="adj" fmla="val 14545"/>
            </a:avLst>
          </a:prstGeom>
          <a:solidFill>
            <a:srgbClr val="1E2761"/>
          </a:solidFill>
          <a:ln/>
        </p:spPr>
      </p:sp>
      <p:sp>
        <p:nvSpPr>
          <p:cNvPr id="4" name="Text 2"/>
          <p:cNvSpPr/>
          <p:nvPr/>
        </p:nvSpPr>
        <p:spPr>
          <a:xfrm>
            <a:off x="457200" y="1042416"/>
            <a:ext cx="59436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5" name="Text 3"/>
          <p:cNvSpPr/>
          <p:nvPr/>
        </p:nvSpPr>
        <p:spPr>
          <a:xfrm>
            <a:off x="1188720" y="1005840"/>
            <a:ext cx="1828800" cy="2743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Load Data</a:t>
            </a:r>
            <a:endParaRPr lang="en-US" sz="1300" dirty="0"/>
          </a:p>
        </p:txBody>
      </p:sp>
      <p:sp>
        <p:nvSpPr>
          <p:cNvPr id="6" name="Text 4"/>
          <p:cNvSpPr/>
          <p:nvPr/>
        </p:nvSpPr>
        <p:spPr>
          <a:xfrm>
            <a:off x="1188720" y="1261872"/>
            <a:ext cx="7315200" cy="3200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Create a dataset of 20 students with study hours and marks using Pandas</a:t>
            </a:r>
            <a:endParaRPr lang="en-US" sz="1100" dirty="0"/>
          </a:p>
        </p:txBody>
      </p:sp>
      <p:sp>
        <p:nvSpPr>
          <p:cNvPr id="7" name="Shape 5"/>
          <p:cNvSpPr/>
          <p:nvPr/>
        </p:nvSpPr>
        <p:spPr>
          <a:xfrm>
            <a:off x="457200" y="1755648"/>
            <a:ext cx="594360" cy="502920"/>
          </a:xfrm>
          <a:prstGeom prst="roundRect">
            <a:avLst>
              <a:gd name="adj" fmla="val 14545"/>
            </a:avLst>
          </a:prstGeom>
          <a:solidFill>
            <a:srgbClr val="1E2761"/>
          </a:solidFill>
          <a:ln/>
        </p:spPr>
      </p:sp>
      <p:sp>
        <p:nvSpPr>
          <p:cNvPr id="8" name="Text 6"/>
          <p:cNvSpPr/>
          <p:nvPr/>
        </p:nvSpPr>
        <p:spPr>
          <a:xfrm>
            <a:off x="457200" y="1792224"/>
            <a:ext cx="59436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9" name="Text 7"/>
          <p:cNvSpPr/>
          <p:nvPr/>
        </p:nvSpPr>
        <p:spPr>
          <a:xfrm>
            <a:off x="1188720" y="1755648"/>
            <a:ext cx="1828800" cy="2743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Split Data</a:t>
            </a:r>
            <a:endParaRPr lang="en-US" sz="1300" dirty="0"/>
          </a:p>
        </p:txBody>
      </p:sp>
      <p:sp>
        <p:nvSpPr>
          <p:cNvPr id="10" name="Text 8"/>
          <p:cNvSpPr/>
          <p:nvPr/>
        </p:nvSpPr>
        <p:spPr>
          <a:xfrm>
            <a:off x="1188720" y="2011680"/>
            <a:ext cx="7315200" cy="3200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80% used for training the model, 20% kept aside for testing</a:t>
            </a:r>
            <a:endParaRPr lang="en-US" sz="1100" dirty="0"/>
          </a:p>
        </p:txBody>
      </p:sp>
      <p:sp>
        <p:nvSpPr>
          <p:cNvPr id="11" name="Shape 9"/>
          <p:cNvSpPr/>
          <p:nvPr/>
        </p:nvSpPr>
        <p:spPr>
          <a:xfrm>
            <a:off x="457200" y="2505456"/>
            <a:ext cx="594360" cy="502920"/>
          </a:xfrm>
          <a:prstGeom prst="roundRect">
            <a:avLst>
              <a:gd name="adj" fmla="val 14545"/>
            </a:avLst>
          </a:prstGeom>
          <a:solidFill>
            <a:srgbClr val="1E2761"/>
          </a:solidFill>
          <a:ln/>
        </p:spPr>
      </p:sp>
      <p:sp>
        <p:nvSpPr>
          <p:cNvPr id="12" name="Text 10"/>
          <p:cNvSpPr/>
          <p:nvPr/>
        </p:nvSpPr>
        <p:spPr>
          <a:xfrm>
            <a:off x="457200" y="2542032"/>
            <a:ext cx="59436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3" name="Text 11"/>
          <p:cNvSpPr/>
          <p:nvPr/>
        </p:nvSpPr>
        <p:spPr>
          <a:xfrm>
            <a:off x="1188720" y="2505456"/>
            <a:ext cx="1828800" cy="2743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Train Model</a:t>
            </a:r>
            <a:endParaRPr lang="en-US" sz="1300" dirty="0"/>
          </a:p>
        </p:txBody>
      </p:sp>
      <p:sp>
        <p:nvSpPr>
          <p:cNvPr id="14" name="Text 12"/>
          <p:cNvSpPr/>
          <p:nvPr/>
        </p:nvSpPr>
        <p:spPr>
          <a:xfrm>
            <a:off x="1188720" y="2761488"/>
            <a:ext cx="7315200" cy="3200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Linear Regression finds the best straight line through all the data points</a:t>
            </a:r>
            <a:endParaRPr lang="en-US" sz="1100" dirty="0"/>
          </a:p>
        </p:txBody>
      </p:sp>
      <p:sp>
        <p:nvSpPr>
          <p:cNvPr id="15" name="Shape 13"/>
          <p:cNvSpPr/>
          <p:nvPr/>
        </p:nvSpPr>
        <p:spPr>
          <a:xfrm>
            <a:off x="457200" y="3255264"/>
            <a:ext cx="594360" cy="502920"/>
          </a:xfrm>
          <a:prstGeom prst="roundRect">
            <a:avLst>
              <a:gd name="adj" fmla="val 14545"/>
            </a:avLst>
          </a:prstGeom>
          <a:solidFill>
            <a:srgbClr val="1E2761"/>
          </a:solidFill>
          <a:ln/>
        </p:spPr>
      </p:sp>
      <p:sp>
        <p:nvSpPr>
          <p:cNvPr id="16" name="Text 14"/>
          <p:cNvSpPr/>
          <p:nvPr/>
        </p:nvSpPr>
        <p:spPr>
          <a:xfrm>
            <a:off x="457200" y="3291840"/>
            <a:ext cx="59436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17" name="Text 15"/>
          <p:cNvSpPr/>
          <p:nvPr/>
        </p:nvSpPr>
        <p:spPr>
          <a:xfrm>
            <a:off x="1188720" y="3255264"/>
            <a:ext cx="1828800" cy="2743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Evaluate</a:t>
            </a:r>
            <a:endParaRPr lang="en-US" sz="1300" dirty="0"/>
          </a:p>
        </p:txBody>
      </p:sp>
      <p:sp>
        <p:nvSpPr>
          <p:cNvPr id="18" name="Text 16"/>
          <p:cNvSpPr/>
          <p:nvPr/>
        </p:nvSpPr>
        <p:spPr>
          <a:xfrm>
            <a:off x="1188720" y="3511296"/>
            <a:ext cx="7315200" cy="3200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Check accuracy using R² Score and Mean Absolute Error</a:t>
            </a:r>
            <a:endParaRPr lang="en-US" sz="1100" dirty="0"/>
          </a:p>
        </p:txBody>
      </p:sp>
      <p:sp>
        <p:nvSpPr>
          <p:cNvPr id="19" name="Shape 17"/>
          <p:cNvSpPr/>
          <p:nvPr/>
        </p:nvSpPr>
        <p:spPr>
          <a:xfrm>
            <a:off x="457200" y="4005072"/>
            <a:ext cx="594360" cy="502920"/>
          </a:xfrm>
          <a:prstGeom prst="roundRect">
            <a:avLst>
              <a:gd name="adj" fmla="val 14545"/>
            </a:avLst>
          </a:prstGeom>
          <a:solidFill>
            <a:srgbClr val="1E2761"/>
          </a:solidFill>
          <a:ln/>
        </p:spPr>
      </p:sp>
      <p:sp>
        <p:nvSpPr>
          <p:cNvPr id="20" name="Text 18"/>
          <p:cNvSpPr/>
          <p:nvPr/>
        </p:nvSpPr>
        <p:spPr>
          <a:xfrm>
            <a:off x="457200" y="4041648"/>
            <a:ext cx="59436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21" name="Text 19"/>
          <p:cNvSpPr/>
          <p:nvPr/>
        </p:nvSpPr>
        <p:spPr>
          <a:xfrm>
            <a:off x="1188720" y="4005072"/>
            <a:ext cx="1828800" cy="2743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Predict</a:t>
            </a:r>
            <a:endParaRPr lang="en-US" sz="1300" dirty="0"/>
          </a:p>
        </p:txBody>
      </p:sp>
      <p:sp>
        <p:nvSpPr>
          <p:cNvPr id="22" name="Text 20"/>
          <p:cNvSpPr/>
          <p:nvPr/>
        </p:nvSpPr>
        <p:spPr>
          <a:xfrm>
            <a:off x="1188720" y="4261104"/>
            <a:ext cx="7315200" cy="3200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User enters study hours → model outputs predicted marks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What is Linear Regression?</a:t>
            </a:r>
            <a:endParaRPr lang="en-US" sz="3000" dirty="0"/>
          </a:p>
        </p:txBody>
      </p:sp>
      <p:sp>
        <p:nvSpPr>
          <p:cNvPr id="3" name="Text 1"/>
          <p:cNvSpPr/>
          <p:nvPr/>
        </p:nvSpPr>
        <p:spPr>
          <a:xfrm>
            <a:off x="457200" y="960120"/>
            <a:ext cx="8229600" cy="640080"/>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Linear Regression finds the best straight line through a set of data points.</a:t>
            </a:r>
            <a:endParaRPr lang="en-US" sz="1400" dirty="0"/>
          </a:p>
          <a:p>
            <a:pPr indent="0" marL="0">
              <a:buNone/>
            </a:pPr>
            <a:r>
              <a:rPr lang="en-US" sz="1400" dirty="0">
                <a:solidFill>
                  <a:srgbClr val="1E293B"/>
                </a:solidFill>
                <a:latin typeface="Calibri" pitchFamily="34" charset="0"/>
                <a:ea typeface="Calibri" pitchFamily="34" charset="-122"/>
                <a:cs typeface="Calibri" pitchFamily="34" charset="-120"/>
              </a:rPr>
              <a:t>Once it finds that line, it can predict a value for any new input.</a:t>
            </a:r>
            <a:endParaRPr lang="en-US" sz="1400" dirty="0"/>
          </a:p>
        </p:txBody>
      </p:sp>
      <p:sp>
        <p:nvSpPr>
          <p:cNvPr id="4" name="Shape 2"/>
          <p:cNvSpPr/>
          <p:nvPr/>
        </p:nvSpPr>
        <p:spPr>
          <a:xfrm>
            <a:off x="2286000" y="1737360"/>
            <a:ext cx="4572000" cy="822960"/>
          </a:xfrm>
          <a:prstGeom prst="roundRect">
            <a:avLst>
              <a:gd name="adj" fmla="val 11111"/>
            </a:avLst>
          </a:prstGeom>
          <a:solidFill>
            <a:srgbClr val="1E2761"/>
          </a:solidFill>
          <a:ln/>
        </p:spPr>
      </p:sp>
      <p:sp>
        <p:nvSpPr>
          <p:cNvPr id="5" name="Text 3"/>
          <p:cNvSpPr/>
          <p:nvPr/>
        </p:nvSpPr>
        <p:spPr>
          <a:xfrm>
            <a:off x="2286000" y="1783080"/>
            <a:ext cx="4572000" cy="731520"/>
          </a:xfrm>
          <a:prstGeom prst="rect">
            <a:avLst/>
          </a:prstGeom>
          <a:noFill/>
          <a:ln/>
        </p:spPr>
        <p:txBody>
          <a:bodyPr wrap="square" rtlCol="0" anchor="ctr"/>
          <a:lstStyle/>
          <a:p>
            <a:pPr algn="ctr" indent="0" marL="0">
              <a:buNone/>
            </a:pPr>
            <a:r>
              <a:rPr lang="en-US" sz="1700" b="1" dirty="0">
                <a:solidFill>
                  <a:srgbClr val="F5A623"/>
                </a:solidFill>
                <a:latin typeface="Calibri" pitchFamily="34" charset="0"/>
                <a:ea typeface="Calibri" pitchFamily="34" charset="-122"/>
                <a:cs typeface="Calibri" pitchFamily="34" charset="-120"/>
              </a:rPr>
              <a:t>Marks  =  Slope × Hours  +  Intercept</a:t>
            </a:r>
            <a:endParaRPr lang="en-US" sz="1700" dirty="0"/>
          </a:p>
        </p:txBody>
      </p:sp>
      <p:graphicFrame>
        <p:nvGraphicFramePr>
          <p:cNvPr id="6" name="Chart 0" descr=""/>
          <p:cNvGraphicFramePr/>
          <p:nvPr/>
        </p:nvGraphicFramePr>
        <p:xfrm>
          <a:off x="914400" y="2743200"/>
          <a:ext cx="7315200" cy="210312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Model Results</a:t>
            </a:r>
            <a:endParaRPr lang="en-US" sz="3000" dirty="0"/>
          </a:p>
        </p:txBody>
      </p:sp>
      <p:sp>
        <p:nvSpPr>
          <p:cNvPr id="3" name="Shape 1"/>
          <p:cNvSpPr/>
          <p:nvPr/>
        </p:nvSpPr>
        <p:spPr>
          <a:xfrm>
            <a:off x="457200" y="1005840"/>
            <a:ext cx="2560320" cy="2011680"/>
          </a:xfrm>
          <a:prstGeom prst="roundRect">
            <a:avLst>
              <a:gd name="adj" fmla="val 4545"/>
            </a:avLst>
          </a:prstGeom>
          <a:solidFill>
            <a:srgbClr val="EEF2FF"/>
          </a:solidFill>
          <a:ln/>
          <a:effectLst>
            <a:outerShdw sx="100000" sy="100000" kx="0" ky="0" algn="bl" rotWithShape="0" blurRad="101600" dist="25400" dir="2700000">
              <a:srgbClr val="000000">
                <a:alpha val="12000"/>
              </a:srgbClr>
            </a:outerShdw>
          </a:effectLst>
        </p:spPr>
      </p:sp>
      <p:sp>
        <p:nvSpPr>
          <p:cNvPr id="4" name="Text 2"/>
          <p:cNvSpPr/>
          <p:nvPr/>
        </p:nvSpPr>
        <p:spPr>
          <a:xfrm>
            <a:off x="548640" y="1188720"/>
            <a:ext cx="2377440" cy="731520"/>
          </a:xfrm>
          <a:prstGeom prst="rect">
            <a:avLst/>
          </a:prstGeom>
          <a:noFill/>
          <a:ln/>
        </p:spPr>
        <p:txBody>
          <a:bodyPr wrap="square" lIns="0" tIns="0" rIns="0" bIns="0" rtlCol="0" anchor="ctr"/>
          <a:lstStyle/>
          <a:p>
            <a:pPr algn="ctr" indent="0" marL="0">
              <a:buNone/>
            </a:pPr>
            <a:r>
              <a:rPr lang="en-US" sz="3600" b="1" dirty="0">
                <a:solidFill>
                  <a:srgbClr val="1E2761"/>
                </a:solidFill>
                <a:latin typeface="Calibri" pitchFamily="34" charset="0"/>
                <a:ea typeface="Calibri" pitchFamily="34" charset="-122"/>
                <a:cs typeface="Calibri" pitchFamily="34" charset="-120"/>
              </a:rPr>
              <a:t>~0.97</a:t>
            </a:r>
            <a:endParaRPr lang="en-US" sz="3600" dirty="0"/>
          </a:p>
        </p:txBody>
      </p:sp>
      <p:sp>
        <p:nvSpPr>
          <p:cNvPr id="5" name="Text 3"/>
          <p:cNvSpPr/>
          <p:nvPr/>
        </p:nvSpPr>
        <p:spPr>
          <a:xfrm>
            <a:off x="548640" y="1920240"/>
            <a:ext cx="2377440" cy="320040"/>
          </a:xfrm>
          <a:prstGeom prst="rect">
            <a:avLst/>
          </a:prstGeom>
          <a:noFill/>
          <a:ln/>
        </p:spPr>
        <p:txBody>
          <a:bodyPr wrap="square" lIns="0" tIns="0" rIns="0" bIns="0" rtlCol="0" anchor="ctr"/>
          <a:lstStyle/>
          <a:p>
            <a:pPr algn="ctr" indent="0" marL="0">
              <a:buNone/>
            </a:pPr>
            <a:r>
              <a:rPr lang="en-US" sz="1200" b="1" dirty="0">
                <a:solidFill>
                  <a:srgbClr val="1E293B"/>
                </a:solidFill>
                <a:latin typeface="Calibri" pitchFamily="34" charset="0"/>
                <a:ea typeface="Calibri" pitchFamily="34" charset="-122"/>
                <a:cs typeface="Calibri" pitchFamily="34" charset="-120"/>
              </a:rPr>
              <a:t>R² Score</a:t>
            </a:r>
            <a:endParaRPr lang="en-US" sz="1200" dirty="0"/>
          </a:p>
        </p:txBody>
      </p:sp>
      <p:sp>
        <p:nvSpPr>
          <p:cNvPr id="6" name="Text 4"/>
          <p:cNvSpPr/>
          <p:nvPr/>
        </p:nvSpPr>
        <p:spPr>
          <a:xfrm>
            <a:off x="548640" y="2240280"/>
            <a:ext cx="2377440" cy="36576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97% accuracy</a:t>
            </a:r>
            <a:endParaRPr lang="en-US" sz="1100" dirty="0"/>
          </a:p>
        </p:txBody>
      </p:sp>
      <p:sp>
        <p:nvSpPr>
          <p:cNvPr id="7" name="Shape 5"/>
          <p:cNvSpPr/>
          <p:nvPr/>
        </p:nvSpPr>
        <p:spPr>
          <a:xfrm>
            <a:off x="3291840" y="1005840"/>
            <a:ext cx="2560320" cy="2011680"/>
          </a:xfrm>
          <a:prstGeom prst="roundRect">
            <a:avLst>
              <a:gd name="adj" fmla="val 4545"/>
            </a:avLst>
          </a:prstGeom>
          <a:solidFill>
            <a:srgbClr val="EEF2FF"/>
          </a:solidFill>
          <a:ln/>
          <a:effectLst>
            <a:outerShdw sx="100000" sy="100000" kx="0" ky="0" algn="bl" rotWithShape="0" blurRad="101600" dist="25400" dir="2700000">
              <a:srgbClr val="000000">
                <a:alpha val="12000"/>
              </a:srgbClr>
            </a:outerShdw>
          </a:effectLst>
        </p:spPr>
      </p:sp>
      <p:sp>
        <p:nvSpPr>
          <p:cNvPr id="8" name="Text 6"/>
          <p:cNvSpPr/>
          <p:nvPr/>
        </p:nvSpPr>
        <p:spPr>
          <a:xfrm>
            <a:off x="3383280" y="1188720"/>
            <a:ext cx="2377440" cy="731520"/>
          </a:xfrm>
          <a:prstGeom prst="rect">
            <a:avLst/>
          </a:prstGeom>
          <a:noFill/>
          <a:ln/>
        </p:spPr>
        <p:txBody>
          <a:bodyPr wrap="square" lIns="0" tIns="0" rIns="0" bIns="0" rtlCol="0" anchor="ctr"/>
          <a:lstStyle/>
          <a:p>
            <a:pPr algn="ctr" indent="0" marL="0">
              <a:buNone/>
            </a:pPr>
            <a:r>
              <a:rPr lang="en-US" sz="3600" b="1" dirty="0">
                <a:solidFill>
                  <a:srgbClr val="1E2761"/>
                </a:solidFill>
                <a:latin typeface="Calibri" pitchFamily="34" charset="0"/>
                <a:ea typeface="Calibri" pitchFamily="34" charset="-122"/>
                <a:cs typeface="Calibri" pitchFamily="34" charset="-120"/>
              </a:rPr>
              <a:t>~3.2</a:t>
            </a:r>
            <a:endParaRPr lang="en-US" sz="3600" dirty="0"/>
          </a:p>
        </p:txBody>
      </p:sp>
      <p:sp>
        <p:nvSpPr>
          <p:cNvPr id="9" name="Text 7"/>
          <p:cNvSpPr/>
          <p:nvPr/>
        </p:nvSpPr>
        <p:spPr>
          <a:xfrm>
            <a:off x="3383280" y="1920240"/>
            <a:ext cx="2377440" cy="320040"/>
          </a:xfrm>
          <a:prstGeom prst="rect">
            <a:avLst/>
          </a:prstGeom>
          <a:noFill/>
          <a:ln/>
        </p:spPr>
        <p:txBody>
          <a:bodyPr wrap="square" lIns="0" tIns="0" rIns="0" bIns="0" rtlCol="0" anchor="ctr"/>
          <a:lstStyle/>
          <a:p>
            <a:pPr algn="ctr" indent="0" marL="0">
              <a:buNone/>
            </a:pPr>
            <a:r>
              <a:rPr lang="en-US" sz="1200" b="1" dirty="0">
                <a:solidFill>
                  <a:srgbClr val="1E293B"/>
                </a:solidFill>
                <a:latin typeface="Calibri" pitchFamily="34" charset="0"/>
                <a:ea typeface="Calibri" pitchFamily="34" charset="-122"/>
                <a:cs typeface="Calibri" pitchFamily="34" charset="-120"/>
              </a:rPr>
              <a:t>Mean Absolute Error</a:t>
            </a:r>
            <a:endParaRPr lang="en-US" sz="1200" dirty="0"/>
          </a:p>
        </p:txBody>
      </p:sp>
      <p:sp>
        <p:nvSpPr>
          <p:cNvPr id="10" name="Text 8"/>
          <p:cNvSpPr/>
          <p:nvPr/>
        </p:nvSpPr>
        <p:spPr>
          <a:xfrm>
            <a:off x="3383280" y="2240280"/>
            <a:ext cx="2377440" cy="36576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Off by ~3 marks on average</a:t>
            </a:r>
            <a:endParaRPr lang="en-US" sz="1100" dirty="0"/>
          </a:p>
        </p:txBody>
      </p:sp>
      <p:sp>
        <p:nvSpPr>
          <p:cNvPr id="11" name="Shape 9"/>
          <p:cNvSpPr/>
          <p:nvPr/>
        </p:nvSpPr>
        <p:spPr>
          <a:xfrm>
            <a:off x="6126480" y="1005840"/>
            <a:ext cx="2560320" cy="2011680"/>
          </a:xfrm>
          <a:prstGeom prst="roundRect">
            <a:avLst>
              <a:gd name="adj" fmla="val 4545"/>
            </a:avLst>
          </a:prstGeom>
          <a:solidFill>
            <a:srgbClr val="EEF2FF"/>
          </a:solidFill>
          <a:ln/>
          <a:effectLst>
            <a:outerShdw sx="100000" sy="100000" kx="0" ky="0" algn="bl" rotWithShape="0" blurRad="101600" dist="25400" dir="2700000">
              <a:srgbClr val="000000">
                <a:alpha val="12000"/>
              </a:srgbClr>
            </a:outerShdw>
          </a:effectLst>
        </p:spPr>
      </p:sp>
      <p:sp>
        <p:nvSpPr>
          <p:cNvPr id="12" name="Text 10"/>
          <p:cNvSpPr/>
          <p:nvPr/>
        </p:nvSpPr>
        <p:spPr>
          <a:xfrm>
            <a:off x="6217920" y="1188720"/>
            <a:ext cx="2377440" cy="731520"/>
          </a:xfrm>
          <a:prstGeom prst="rect">
            <a:avLst/>
          </a:prstGeom>
          <a:noFill/>
          <a:ln/>
        </p:spPr>
        <p:txBody>
          <a:bodyPr wrap="square" lIns="0" tIns="0" rIns="0" bIns="0" rtlCol="0" anchor="ctr"/>
          <a:lstStyle/>
          <a:p>
            <a:pPr algn="ctr" indent="0" marL="0">
              <a:buNone/>
            </a:pPr>
            <a:r>
              <a:rPr lang="en-US" sz="3600" b="1" dirty="0">
                <a:solidFill>
                  <a:srgbClr val="1E2761"/>
                </a:solidFill>
                <a:latin typeface="Calibri" pitchFamily="34" charset="0"/>
                <a:ea typeface="Calibri" pitchFamily="34" charset="-122"/>
                <a:cs typeface="Calibri" pitchFamily="34" charset="-120"/>
              </a:rPr>
              <a:t>64.7</a:t>
            </a:r>
            <a:endParaRPr lang="en-US" sz="3600" dirty="0"/>
          </a:p>
        </p:txBody>
      </p:sp>
      <p:sp>
        <p:nvSpPr>
          <p:cNvPr id="13" name="Text 11"/>
          <p:cNvSpPr/>
          <p:nvPr/>
        </p:nvSpPr>
        <p:spPr>
          <a:xfrm>
            <a:off x="6217920" y="1920240"/>
            <a:ext cx="2377440" cy="320040"/>
          </a:xfrm>
          <a:prstGeom prst="rect">
            <a:avLst/>
          </a:prstGeom>
          <a:noFill/>
          <a:ln/>
        </p:spPr>
        <p:txBody>
          <a:bodyPr wrap="square" lIns="0" tIns="0" rIns="0" bIns="0" rtlCol="0" anchor="ctr"/>
          <a:lstStyle/>
          <a:p>
            <a:pPr algn="ctr" indent="0" marL="0">
              <a:buNone/>
            </a:pPr>
            <a:r>
              <a:rPr lang="en-US" sz="1200" b="1" dirty="0">
                <a:solidFill>
                  <a:srgbClr val="1E293B"/>
                </a:solidFill>
                <a:latin typeface="Calibri" pitchFamily="34" charset="0"/>
                <a:ea typeface="Calibri" pitchFamily="34" charset="-122"/>
                <a:cs typeface="Calibri" pitchFamily="34" charset="-120"/>
              </a:rPr>
              <a:t>Predicted Marks</a:t>
            </a:r>
            <a:endParaRPr lang="en-US" sz="1200" dirty="0"/>
          </a:p>
        </p:txBody>
      </p:sp>
      <p:sp>
        <p:nvSpPr>
          <p:cNvPr id="14" name="Text 12"/>
          <p:cNvSpPr/>
          <p:nvPr/>
        </p:nvSpPr>
        <p:spPr>
          <a:xfrm>
            <a:off x="6217920" y="2240280"/>
            <a:ext cx="2377440" cy="36576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For 6 hours of study</a:t>
            </a:r>
            <a:endParaRPr lang="en-US" sz="1100" dirty="0"/>
          </a:p>
        </p:txBody>
      </p:sp>
      <p:sp>
        <p:nvSpPr>
          <p:cNvPr id="15" name="Text 13"/>
          <p:cNvSpPr/>
          <p:nvPr/>
        </p:nvSpPr>
        <p:spPr>
          <a:xfrm>
            <a:off x="457200" y="3246120"/>
            <a:ext cx="2743200" cy="320040"/>
          </a:xfrm>
          <a:prstGeom prst="rect">
            <a:avLst/>
          </a:prstGeom>
          <a:noFill/>
          <a:ln/>
        </p:spPr>
        <p:txBody>
          <a:bodyPr wrap="square"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Live Demo Output:</a:t>
            </a:r>
            <a:endParaRPr lang="en-US" sz="1300" dirty="0"/>
          </a:p>
        </p:txBody>
      </p:sp>
      <p:sp>
        <p:nvSpPr>
          <p:cNvPr id="16" name="Shape 14"/>
          <p:cNvSpPr/>
          <p:nvPr/>
        </p:nvSpPr>
        <p:spPr>
          <a:xfrm>
            <a:off x="457200" y="3611880"/>
            <a:ext cx="8229600" cy="822960"/>
          </a:xfrm>
          <a:prstGeom prst="roundRect">
            <a:avLst>
              <a:gd name="adj" fmla="val 8889"/>
            </a:avLst>
          </a:prstGeom>
          <a:solidFill>
            <a:srgbClr val="1E293B"/>
          </a:solidFill>
          <a:ln/>
        </p:spPr>
      </p:sp>
      <p:sp>
        <p:nvSpPr>
          <p:cNvPr id="17" name="Text 15"/>
          <p:cNvSpPr/>
          <p:nvPr/>
        </p:nvSpPr>
        <p:spPr>
          <a:xfrm>
            <a:off x="640080" y="3630168"/>
            <a:ext cx="7863840" cy="777240"/>
          </a:xfrm>
          <a:prstGeom prst="rect">
            <a:avLst/>
          </a:prstGeom>
          <a:noFill/>
          <a:ln/>
        </p:spPr>
        <p:txBody>
          <a:bodyPr wrap="square" lIns="0" tIns="0" rIns="0" bIns="0" rtlCol="0" anchor="ctr"/>
          <a:lstStyle/>
          <a:p>
            <a:pPr indent="0" marL="0">
              <a:buNone/>
            </a:pPr>
            <a:r>
              <a:rPr lang="en-US" sz="1200" dirty="0">
                <a:solidFill>
                  <a:srgbClr val="00FF99"/>
                </a:solidFill>
                <a:latin typeface="Courier New" pitchFamily="34" charset="0"/>
                <a:ea typeface="Courier New" pitchFamily="34" charset="-122"/>
                <a:cs typeface="Courier New" pitchFamily="34" charset="-120"/>
              </a:rPr>
              <a:t>Enter number of study hours: 6</a:t>
            </a:r>
            <a:endParaRPr lang="en-US" sz="1200" dirty="0"/>
          </a:p>
          <a:p>
            <a:pPr indent="0" marL="0">
              <a:buNone/>
            </a:pPr>
            <a:r>
              <a:rPr lang="en-US" sz="1200" dirty="0">
                <a:solidFill>
                  <a:srgbClr val="00FF99"/>
                </a:solidFill>
                <a:latin typeface="Courier New" pitchFamily="34" charset="0"/>
                <a:ea typeface="Courier New" pitchFamily="34" charset="-122"/>
                <a:cs typeface="Courier New" pitchFamily="34" charset="-120"/>
              </a:rPr>
              <a:t>→  If you study for 6.0 hours, you are likely to score: 64.7 / 100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lstStyle/>
          <a:p>
            <a:pPr indent="0" marL="0">
              <a:buNone/>
            </a:pPr>
            <a:r>
              <a:rPr lang="en-US" sz="3000" b="1" dirty="0">
                <a:solidFill>
                  <a:srgbClr val="1E2761"/>
                </a:solidFill>
                <a:latin typeface="Calibri" pitchFamily="34" charset="0"/>
                <a:ea typeface="Calibri" pitchFamily="34" charset="-122"/>
                <a:cs typeface="Calibri" pitchFamily="34" charset="-120"/>
              </a:rPr>
              <a:t>Technologies Used</a:t>
            </a:r>
            <a:endParaRPr lang="en-US" sz="3000" dirty="0"/>
          </a:p>
        </p:txBody>
      </p:sp>
      <p:sp>
        <p:nvSpPr>
          <p:cNvPr id="3" name="Shape 1"/>
          <p:cNvSpPr/>
          <p:nvPr/>
        </p:nvSpPr>
        <p:spPr>
          <a:xfrm>
            <a:off x="457200" y="1097280"/>
            <a:ext cx="8229600" cy="749808"/>
          </a:xfrm>
          <a:prstGeom prst="roundRect">
            <a:avLst>
              <a:gd name="adj" fmla="val 9756"/>
            </a:avLst>
          </a:prstGeom>
          <a:solidFill>
            <a:srgbClr val="EEF2FF"/>
          </a:solidFill>
          <a:ln/>
        </p:spPr>
      </p:sp>
      <p:sp>
        <p:nvSpPr>
          <p:cNvPr id="4" name="Text 2"/>
          <p:cNvSpPr/>
          <p:nvPr/>
        </p:nvSpPr>
        <p:spPr>
          <a:xfrm>
            <a:off x="731520" y="1207008"/>
            <a:ext cx="1828800" cy="50292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Python</a:t>
            </a:r>
            <a:endParaRPr lang="en-US" sz="1400" dirty="0"/>
          </a:p>
        </p:txBody>
      </p:sp>
      <p:sp>
        <p:nvSpPr>
          <p:cNvPr id="5" name="Text 3"/>
          <p:cNvSpPr/>
          <p:nvPr/>
        </p:nvSpPr>
        <p:spPr>
          <a:xfrm>
            <a:off x="2743200" y="1261872"/>
            <a:ext cx="5760720" cy="4114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Programming language used to write the entire project</a:t>
            </a:r>
            <a:endParaRPr lang="en-US" sz="1300" dirty="0"/>
          </a:p>
        </p:txBody>
      </p:sp>
      <p:sp>
        <p:nvSpPr>
          <p:cNvPr id="6" name="Shape 4"/>
          <p:cNvSpPr/>
          <p:nvPr/>
        </p:nvSpPr>
        <p:spPr>
          <a:xfrm>
            <a:off x="457200" y="1993392"/>
            <a:ext cx="8229600" cy="749808"/>
          </a:xfrm>
          <a:prstGeom prst="roundRect">
            <a:avLst>
              <a:gd name="adj" fmla="val 9756"/>
            </a:avLst>
          </a:prstGeom>
          <a:solidFill>
            <a:srgbClr val="FFFFFF"/>
          </a:solidFill>
          <a:ln/>
        </p:spPr>
      </p:sp>
      <p:sp>
        <p:nvSpPr>
          <p:cNvPr id="7" name="Text 5"/>
          <p:cNvSpPr/>
          <p:nvPr/>
        </p:nvSpPr>
        <p:spPr>
          <a:xfrm>
            <a:off x="731520" y="2103120"/>
            <a:ext cx="1828800" cy="50292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Pandas</a:t>
            </a:r>
            <a:endParaRPr lang="en-US" sz="1400" dirty="0"/>
          </a:p>
        </p:txBody>
      </p:sp>
      <p:sp>
        <p:nvSpPr>
          <p:cNvPr id="8" name="Text 6"/>
          <p:cNvSpPr/>
          <p:nvPr/>
        </p:nvSpPr>
        <p:spPr>
          <a:xfrm>
            <a:off x="2743200" y="2157984"/>
            <a:ext cx="5760720" cy="4114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Used to load and manage the dataset as a table (DataFrame)</a:t>
            </a:r>
            <a:endParaRPr lang="en-US" sz="1300" dirty="0"/>
          </a:p>
        </p:txBody>
      </p:sp>
      <p:sp>
        <p:nvSpPr>
          <p:cNvPr id="9" name="Shape 7"/>
          <p:cNvSpPr/>
          <p:nvPr/>
        </p:nvSpPr>
        <p:spPr>
          <a:xfrm>
            <a:off x="457200" y="2889504"/>
            <a:ext cx="8229600" cy="749808"/>
          </a:xfrm>
          <a:prstGeom prst="roundRect">
            <a:avLst>
              <a:gd name="adj" fmla="val 9756"/>
            </a:avLst>
          </a:prstGeom>
          <a:solidFill>
            <a:srgbClr val="EEF2FF"/>
          </a:solidFill>
          <a:ln/>
        </p:spPr>
      </p:sp>
      <p:sp>
        <p:nvSpPr>
          <p:cNvPr id="10" name="Text 8"/>
          <p:cNvSpPr/>
          <p:nvPr/>
        </p:nvSpPr>
        <p:spPr>
          <a:xfrm>
            <a:off x="731520" y="2999232"/>
            <a:ext cx="1828800" cy="50292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Scikit-learn</a:t>
            </a:r>
            <a:endParaRPr lang="en-US" sz="1400" dirty="0"/>
          </a:p>
        </p:txBody>
      </p:sp>
      <p:sp>
        <p:nvSpPr>
          <p:cNvPr id="11" name="Text 9"/>
          <p:cNvSpPr/>
          <p:nvPr/>
        </p:nvSpPr>
        <p:spPr>
          <a:xfrm>
            <a:off x="2743200" y="3054096"/>
            <a:ext cx="5760720" cy="4114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ML library — contains LinearRegression, train_test_split, metrics</a:t>
            </a:r>
            <a:endParaRPr lang="en-US" sz="1300" dirty="0"/>
          </a:p>
        </p:txBody>
      </p:sp>
      <p:sp>
        <p:nvSpPr>
          <p:cNvPr id="12" name="Shape 10"/>
          <p:cNvSpPr/>
          <p:nvPr/>
        </p:nvSpPr>
        <p:spPr>
          <a:xfrm>
            <a:off x="457200" y="3785616"/>
            <a:ext cx="8229600" cy="749808"/>
          </a:xfrm>
          <a:prstGeom prst="roundRect">
            <a:avLst>
              <a:gd name="adj" fmla="val 9756"/>
            </a:avLst>
          </a:prstGeom>
          <a:solidFill>
            <a:srgbClr val="FFFFFF"/>
          </a:solidFill>
          <a:ln/>
        </p:spPr>
      </p:sp>
      <p:sp>
        <p:nvSpPr>
          <p:cNvPr id="13" name="Text 11"/>
          <p:cNvSpPr/>
          <p:nvPr/>
        </p:nvSpPr>
        <p:spPr>
          <a:xfrm>
            <a:off x="731520" y="3895344"/>
            <a:ext cx="1828800" cy="50292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Matplotlib</a:t>
            </a:r>
            <a:endParaRPr lang="en-US" sz="1400" dirty="0"/>
          </a:p>
        </p:txBody>
      </p:sp>
      <p:sp>
        <p:nvSpPr>
          <p:cNvPr id="14" name="Text 12"/>
          <p:cNvSpPr/>
          <p:nvPr/>
        </p:nvSpPr>
        <p:spPr>
          <a:xfrm>
            <a:off x="2743200" y="3950208"/>
            <a:ext cx="5760720" cy="4114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Used to draw the scatter plot and regression line graph</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What I Learned</a:t>
            </a:r>
            <a:endParaRPr lang="en-US" sz="3000" dirty="0"/>
          </a:p>
        </p:txBody>
      </p:sp>
      <p:sp>
        <p:nvSpPr>
          <p:cNvPr id="3" name="Text 1"/>
          <p:cNvSpPr/>
          <p:nvPr/>
        </p:nvSpPr>
        <p:spPr>
          <a:xfrm>
            <a:off x="731520" y="1005840"/>
            <a:ext cx="7772400" cy="3657600"/>
          </a:xfrm>
          <a:prstGeom prst="rect">
            <a:avLst/>
          </a:prstGeom>
          <a:noFill/>
          <a:ln/>
        </p:spPr>
        <p:txBody>
          <a:bodyPr wrap="square" rtlCol="0" anchor="ctr"/>
          <a:lstStyle/>
          <a:p>
            <a:pPr marL="342900" indent="-342900">
              <a:buSzPct val="100000"/>
              <a:buChar char="•"/>
            </a:pPr>
            <a:r>
              <a:rPr lang="en-US" sz="1400" dirty="0">
                <a:solidFill>
                  <a:srgbClr val="FFFFFF"/>
                </a:solidFill>
                <a:latin typeface="Calibri" pitchFamily="34" charset="0"/>
                <a:ea typeface="Calibri" pitchFamily="34" charset="-122"/>
                <a:cs typeface="Calibri" pitchFamily="34" charset="-120"/>
              </a:rPr>
              <a:t>What supervised machine learning is and how it works</a:t>
            </a:r>
            <a:endParaRPr lang="en-US" sz="1400" dirty="0"/>
          </a:p>
          <a:p>
            <a:pPr marL="342900" indent="-342900">
              <a:buSzPct val="100000"/>
              <a:buChar char="•"/>
            </a:pPr>
            <a:r>
              <a:rPr lang="en-US" sz="1400" dirty="0">
                <a:solidFill>
                  <a:srgbClr val="FFFFFF"/>
                </a:solidFill>
                <a:latin typeface="Calibri" pitchFamily="34" charset="0"/>
                <a:ea typeface="Calibri" pitchFamily="34" charset="-122"/>
                <a:cs typeface="Calibri" pitchFamily="34" charset="-120"/>
              </a:rPr>
              <a:t>How to prepare and split a dataset into training and testing sets</a:t>
            </a:r>
            <a:endParaRPr lang="en-US" sz="1400" dirty="0"/>
          </a:p>
          <a:p>
            <a:pPr marL="342900" indent="-342900">
              <a:buSzPct val="100000"/>
              <a:buChar char="•"/>
            </a:pPr>
            <a:r>
              <a:rPr lang="en-US" sz="1400" dirty="0">
                <a:solidFill>
                  <a:srgbClr val="FFFFFF"/>
                </a:solidFill>
                <a:latin typeface="Calibri" pitchFamily="34" charset="0"/>
                <a:ea typeface="Calibri" pitchFamily="34" charset="-122"/>
                <a:cs typeface="Calibri" pitchFamily="34" charset="-120"/>
              </a:rPr>
              <a:t>How Linear Regression finds patterns in data</a:t>
            </a:r>
            <a:endParaRPr lang="en-US" sz="1400" dirty="0"/>
          </a:p>
          <a:p>
            <a:pPr marL="342900" indent="-342900">
              <a:buSzPct val="100000"/>
              <a:buChar char="•"/>
            </a:pPr>
            <a:r>
              <a:rPr lang="en-US" sz="1400" dirty="0">
                <a:solidFill>
                  <a:srgbClr val="FFFFFF"/>
                </a:solidFill>
                <a:latin typeface="Calibri" pitchFamily="34" charset="0"/>
                <a:ea typeface="Calibri" pitchFamily="34" charset="-122"/>
                <a:cs typeface="Calibri" pitchFamily="34" charset="-120"/>
              </a:rPr>
              <a:t>How to evaluate a model using R² Score and Mean Absolute Error</a:t>
            </a:r>
            <a:endParaRPr lang="en-US" sz="1400" dirty="0"/>
          </a:p>
          <a:p>
            <a:pPr marL="342900" indent="-342900">
              <a:buSzPct val="100000"/>
              <a:buChar char="•"/>
            </a:pPr>
            <a:r>
              <a:rPr lang="en-US" sz="1400" dirty="0">
                <a:solidFill>
                  <a:srgbClr val="FFFFFF"/>
                </a:solidFill>
                <a:latin typeface="Calibri" pitchFamily="34" charset="0"/>
                <a:ea typeface="Calibri" pitchFamily="34" charset="-122"/>
                <a:cs typeface="Calibri" pitchFamily="34" charset="-120"/>
              </a:rPr>
              <a:t>How to make live predictions using a trained ML model</a:t>
            </a:r>
            <a:endParaRPr lang="en-US" sz="1400" dirty="0"/>
          </a:p>
          <a:p>
            <a:pPr marL="342900" indent="-342900">
              <a:buSzPct val="100000"/>
              <a:buChar char="•"/>
            </a:pPr>
            <a:r>
              <a:rPr lang="en-US" sz="1400" dirty="0">
                <a:solidFill>
                  <a:srgbClr val="FFFFFF"/>
                </a:solidFill>
                <a:latin typeface="Calibri" pitchFamily="34" charset="0"/>
                <a:ea typeface="Calibri" pitchFamily="34" charset="-122"/>
                <a:cs typeface="Calibri" pitchFamily="34" charset="-120"/>
              </a:rPr>
              <a:t>How to visualize data and model output using Matplotlib</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1463040"/>
            <a:ext cx="8229600" cy="914400"/>
          </a:xfrm>
          <a:prstGeom prst="rect">
            <a:avLst/>
          </a:prstGeom>
          <a:noFill/>
          <a:ln/>
        </p:spPr>
        <p:txBody>
          <a:bodyPr wrap="square" rtlCol="0" anchor="ctr"/>
          <a:lstStyle/>
          <a:p>
            <a:pPr algn="ctr" indent="0" marL="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3" name="Text 1"/>
          <p:cNvSpPr/>
          <p:nvPr/>
        </p:nvSpPr>
        <p:spPr>
          <a:xfrm>
            <a:off x="457200" y="2560320"/>
            <a:ext cx="8229600" cy="457200"/>
          </a:xfrm>
          <a:prstGeom prst="rect">
            <a:avLst/>
          </a:prstGeom>
          <a:noFill/>
          <a:ln/>
        </p:spPr>
        <p:txBody>
          <a:bodyPr wrap="square" rtlCol="0" anchor="ctr"/>
          <a:lstStyle/>
          <a:p>
            <a:pPr algn="ctr" indent="0" marL="0">
              <a:buNone/>
            </a:pPr>
            <a:r>
              <a:rPr lang="en-US" sz="1600" dirty="0">
                <a:solidFill>
                  <a:srgbClr val="F5A623"/>
                </a:solidFill>
                <a:latin typeface="Calibri" pitchFamily="34" charset="0"/>
                <a:ea typeface="Calibri" pitchFamily="34" charset="-122"/>
                <a:cs typeface="Calibri" pitchFamily="34" charset="-120"/>
              </a:rPr>
              <a:t>Student Marks Prediction Using Machine Learning</a:t>
            </a:r>
            <a:endParaRPr lang="en-US" sz="1600" dirty="0"/>
          </a:p>
        </p:txBody>
      </p:sp>
      <p:sp>
        <p:nvSpPr>
          <p:cNvPr id="4" name="Text 2"/>
          <p:cNvSpPr/>
          <p:nvPr/>
        </p:nvSpPr>
        <p:spPr>
          <a:xfrm>
            <a:off x="457200" y="4206240"/>
            <a:ext cx="8229600" cy="320040"/>
          </a:xfrm>
          <a:prstGeom prst="rect">
            <a:avLst/>
          </a:prstGeom>
          <a:noFill/>
          <a:ln/>
        </p:spPr>
        <p:txBody>
          <a:bodyPr wrap="square" rtlCol="0" anchor="ctr"/>
          <a:lstStyle/>
          <a:p>
            <a:pPr algn="ctr" indent="0" marL="0">
              <a:buNone/>
            </a:pPr>
            <a:r>
              <a:rPr lang="en-US" sz="1200" dirty="0">
                <a:solidFill>
                  <a:srgbClr val="AABBDD"/>
                </a:solidFill>
                <a:latin typeface="Calibri" pitchFamily="34" charset="0"/>
                <a:ea typeface="Calibri" pitchFamily="34" charset="-122"/>
                <a:cs typeface="Calibri" pitchFamily="34" charset="-120"/>
              </a:rPr>
              <a:t>Xtragrad Pvt Ltd  |  AI/ML Internship  |  Mini Project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Marks Prediction</dc:title>
  <dc:subject>PptxGenJS Presentation</dc:subject>
  <dc:creator>PptxGenJS</dc:creator>
  <cp:lastModifiedBy>PptxGenJS</cp:lastModifiedBy>
  <cp:revision>1</cp:revision>
  <dcterms:created xsi:type="dcterms:W3CDTF">2026-06-09T14:41:34Z</dcterms:created>
  <dcterms:modified xsi:type="dcterms:W3CDTF">2026-06-09T14:41:34Z</dcterms:modified>
</cp:coreProperties>
</file>